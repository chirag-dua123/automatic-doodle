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E182CF-E054-45D9-8F0F-4921049C35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through the overall workflow, the class‑imbalance challenge, and the key performance numbers. Emphasise the practical relevance for fab monitoring.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4B4823-5349-4D8F-BD10-B5CF5A4FA7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each algorithm, highlight the ROC‑AUC and PR‑AUC differences, and why Random Forest was chosen for final deployment.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4297DC-A654-4527-9059-B812C9976CB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true/false positives/negatives. Discuss the trade‑off of the chosen threshold (0.08) prioritising recall for defect detection.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4CA0A9-EB7F-427B-8A75-CE9D7F4BB6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Illustrate model discrimination (ROC) and performance on the minority class (PR). Point out baseline prevalence line on PR curve.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157A03-7C7B-47DB-8958-661DB6908B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Describe how feature importance is used to pinpoint the most influential sensor channels. Mention potential for targeted maintenance.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CC0923-8058-42B2-9FF0-9FF9C845F9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Summarise the achievements and outline concrete next steps for the lab and industry partners.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D68AA9-C2BC-4F6C-B36C-0789DA5890A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DD28F2-58B2-4695-9080-3F13D74E7D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17C08B-6CD4-4FD3-BA5F-EE9B77CB93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B5F99A-6D4D-4C4C-A2FB-458DD3E201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D7A5F8-CFFA-49CA-86CF-CE6B2520E3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5343C7-AEAD-4774-A572-65B5504EA5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9170D4-BC60-4AF4-B137-A82952DF5C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4C0378-381A-4421-B3BA-54FE41B9C2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E5C04D-D70D-4A06-8570-DD40D7C591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04BD49-F4F5-4CA4-913B-2140264067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AC947B-E828-44F0-984E-0DD3EEE574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AFD3A3-6C79-4180-9161-1472AF4334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SECOM Wafer Fault Detection &amp; Sensor Attribution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Machine Learning Lab (AIM 3130) – Project Overview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Executive Summary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End‑to‑end pipeline: preprocessing → feature selection → model benchmarking → defect prediction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Imbalanced data (≈2% defects) – handled with class‑weighted models and threshold optimisation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Best performing model: Random Forest (balanced_subsample) with ROC‑AUC ≈ 0.96 and PR‑AUC ≈ 0.45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Top sensor channels identified for root‑cause analysis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457200" y="909000"/>
            <a:ext cx="8229600" cy="470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Benchmark Comparison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2" descr="model_benchmark.png"/>
          <p:cNvPicPr/>
          <p:nvPr/>
        </p:nvPicPr>
        <p:blipFill>
          <a:blip r:embed="rId1"/>
          <a:stretch/>
        </p:blipFill>
        <p:spPr>
          <a:xfrm>
            <a:off x="-21600" y="1371600"/>
            <a:ext cx="914364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Confusion Matrix (Threshold Optimised)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2" descr="confusion_matrix.png"/>
          <p:cNvPicPr/>
          <p:nvPr/>
        </p:nvPicPr>
        <p:blipFill>
          <a:blip r:embed="rId1"/>
          <a:stretch/>
        </p:blipFill>
        <p:spPr>
          <a:xfrm>
            <a:off x="914400" y="1371600"/>
            <a:ext cx="548604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ROC and Precision‑Recall Curves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2" descr="roc_pr_curves.png"/>
          <p:cNvPicPr/>
          <p:nvPr/>
        </p:nvPicPr>
        <p:blipFill>
          <a:blip r:embed="rId1"/>
          <a:stretch/>
        </p:blipFill>
        <p:spPr>
          <a:xfrm>
            <a:off x="0" y="2057400"/>
            <a:ext cx="9144000" cy="351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Top Sensor Channels Attributed to Defects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2" descr="top_sensors.png"/>
          <p:cNvPicPr/>
          <p:nvPr/>
        </p:nvPicPr>
        <p:blipFill>
          <a:blip r:embed="rId1"/>
          <a:stretch/>
        </p:blipFill>
        <p:spPr>
          <a:xfrm>
            <a:off x="914400" y="1371600"/>
            <a:ext cx="587808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 &amp; Future 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Deploy the Random Forest model in a real‑time fab monitoring dashboard (Streamlit).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Extend attribution to temporal drift analysis.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Investigate more advanced imbalance techniques (e.g., focal loss, SMOTE).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Share insights with process engineers for yield improvement.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2026-10-24T19:15:49Z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